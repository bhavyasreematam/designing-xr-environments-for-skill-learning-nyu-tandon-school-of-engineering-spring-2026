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GgvePWf8Pnfnzkyk2jmc0qf0D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c2dfeb4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6c2dfeb4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6c2dfeb4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1A56DB">
              <a:alpha val="60000"/>
            </a:srgbClr>
          </a:solidFill>
          <a:ln cap="flat" cmpd="sng" w="12700">
            <a:solidFill>
              <a:srgbClr val="1A56D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1280160"/>
            <a:ext cx="54864" cy="219456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WORKSHOP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60020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 in XR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5146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Learning Environments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GY-9223 · NYU Tandon School of Engineering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0" y="274320"/>
            <a:ext cx="1097280" cy="1097280"/>
          </a:xfrm>
          <a:prstGeom prst="ellipse">
            <a:avLst/>
          </a:prstGeom>
          <a:solidFill>
            <a:srgbClr val="1A56DB">
              <a:alpha val="40000"/>
            </a:srgbClr>
          </a:solidFill>
          <a:ln cap="flat" cmpd="sng" w="12700">
            <a:solidFill>
              <a:srgbClr val="1A56D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589520" y="1188720"/>
            <a:ext cx="640080" cy="640080"/>
          </a:xfrm>
          <a:prstGeom prst="ellipse">
            <a:avLst/>
          </a:prstGeom>
          <a:solidFill>
            <a:srgbClr val="06B6D4">
              <a:alpha val="50196"/>
            </a:srgbClr>
          </a:solidFill>
          <a:ln cap="flat" cmpd="sng" w="12700">
            <a:solidFill>
              <a:srgbClr val="06B6D4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949440" y="1920240"/>
            <a:ext cx="365760" cy="365760"/>
          </a:xfrm>
          <a:prstGeom prst="ellipse">
            <a:avLst/>
          </a:prstGeom>
          <a:solidFill>
            <a:srgbClr val="7C3AED">
              <a:alpha val="60000"/>
            </a:srgbClr>
          </a:solidFill>
          <a:ln cap="flat" cmpd="sng" w="12700">
            <a:solidFill>
              <a:srgbClr val="7C3AE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we've built so far has one thing in common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1554480"/>
            <a:ext cx="2651760" cy="246888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1554480"/>
            <a:ext cx="2651760" cy="73152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Pre-authored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69748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instruction, every feedback response was written in advance by the designer.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0" y="1554480"/>
            <a:ext cx="2651760" cy="246888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38328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269748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environment can only respond to situations the designer anticipated.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035040" y="1554480"/>
            <a:ext cx="2651760" cy="246888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035040" y="1554480"/>
            <a:ext cx="2651760" cy="73152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Silent gaps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269748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a learner has an unexpected question, the environment goes silent.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This is the gap AI fills  a learning environment that can respond to what the learner actually needs, not what the designer predicted.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ways AI can enter an XR experience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" y="1371600"/>
            <a:ext cx="3840480" cy="32004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65760" y="1371600"/>
            <a:ext cx="3840480" cy="91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48640" y="1508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18288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Pedagogical Agent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228600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AI is visible to the learner as a character, tutor, or guide. It answers questions, gives feedback, and adapts its tone. The learner knows they're talking to an AI.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3520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1" lang="en-US" sz="11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Remy</a:t>
            </a: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 in our workshop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343400" y="2834640"/>
            <a:ext cx="457200" cy="73152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315968" y="260604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937760" y="1371600"/>
            <a:ext cx="3840480" cy="32004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37760" y="1371600"/>
            <a:ext cx="3840480" cy="914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120640" y="1508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120640" y="18288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Invisible Intelligence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120640" y="228600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AI runs silently behind the scenes — analyzing behavior, making decisions, adjusting difficulty, and routing the learner's path without ever appearing as a character.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ypes of AI you can integrate into XR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07865" y="1935305"/>
            <a:ext cx="2651700" cy="15546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07865" y="1935305"/>
            <a:ext cx="54900" cy="15546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5025" y="2026745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45025" y="2282777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Language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45025" y="2593673"/>
            <a:ext cx="242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GPT-4o-mini, Claude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45025" y="283141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Conversational agents, tutors, domain experts. Answer open-ended questions in real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142505" y="1935305"/>
            <a:ext cx="2651700" cy="15546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142505" y="1935305"/>
            <a:ext cx="54900" cy="15546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79665" y="2026745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279665" y="2282777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Speech-to-Text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279665" y="2593673"/>
            <a:ext cx="242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OpenAI Whisper, Google STT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279665" y="283141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Converts spoken learner input to text. Enables hands-free, natural conversation in VR.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977145" y="1935305"/>
            <a:ext cx="2651700" cy="15546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977145" y="1935305"/>
            <a:ext cx="54900" cy="155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114305" y="2026745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114305" y="2282777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114305" y="2593673"/>
            <a:ext cx="242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GPT 4 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114305" y="283141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recognizing who is nearby, what objects are present, and make decisions based on what it sees.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6858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XR2IND-VR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129844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as the visible </a:t>
            </a:r>
            <a:r>
              <a:rPr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65760" y="1783080"/>
            <a:ext cx="3931920" cy="265176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65760" y="1783080"/>
            <a:ext cx="393192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8640" y="19202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XR2IND-VR — Industrial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228600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Trainees assemble Cisco routers in VR. An LLM assistant answers questions using RAG — grounded in actual manufacturer manuals, not generic web data. The AI appears as a assistant panel.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35204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Key tech: RAG pipeline · FastAPI backend · OpenAI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475" y="685798"/>
            <a:ext cx="2918450" cy="20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6530" y="2827649"/>
            <a:ext cx="2400337" cy="214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68580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</a:t>
            </a:r>
            <a:r>
              <a:rPr b="1" lang="en-US" sz="4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Ad-VR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Cognitive load-based Adaptive training for Machining Tasks in VR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1874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2276788"/>
            <a:ext cx="50292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100">
                <a:solidFill>
                  <a:schemeClr val="lt2"/>
                </a:solidFill>
              </a:rPr>
              <a:t>In CLAd-VR's adaptive engine, LLM acts as the reasoning brain  it reads the learner's Behaviour and diagnoses </a:t>
            </a:r>
            <a:r>
              <a:rPr i="1" lang="en-US" sz="1100">
                <a:solidFill>
                  <a:schemeClr val="lt2"/>
                </a:solidFill>
              </a:rPr>
              <a:t>why</a:t>
            </a:r>
            <a:r>
              <a:rPr lang="en-US" sz="1100">
                <a:solidFill>
                  <a:schemeClr val="lt2"/>
                </a:solidFill>
              </a:rPr>
              <a:t> the learner is struggling .Based on that diagnosis it then selects the right intervention modality something a static lookup table simply can't do flexibly.</a:t>
            </a:r>
            <a:endParaRPr sz="11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3246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 Adaptive Strategies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3657600"/>
            <a:ext cx="45720" cy="201168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94360" y="36576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Ghost Hands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" y="3931920"/>
            <a:ext cx="45720" cy="2011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94360" y="39319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Assistance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4206240"/>
            <a:ext cx="45720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94360" y="420624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Haptics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7200" y="4480560"/>
            <a:ext cx="45720" cy="2011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94360" y="448056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760775" y="811499"/>
            <a:ext cx="3017400" cy="35205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943600" y="1600200"/>
            <a:ext cx="2651760" cy="384048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035040" y="164592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EEG + </a:t>
            </a: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Behavioral</a:t>
            </a: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 Metrics +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132320" y="1984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943600" y="2148840"/>
            <a:ext cx="2651760" cy="384048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035040" y="2194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132320" y="253288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943600" y="2697480"/>
            <a:ext cx="2651760" cy="384048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035040" y="2743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LLM generates </a:t>
            </a: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Which strategy to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132320" y="3081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943600" y="3246120"/>
            <a:ext cx="2651760" cy="384048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Unity Triggers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132320" y="36301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943600" y="3794760"/>
            <a:ext cx="2651760" cy="384048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035040" y="3840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Displayed to User in Headset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763" y="701040"/>
            <a:ext cx="7680471" cy="4290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system prompt is the design artifact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74320" y="1737360"/>
            <a:ext cx="2743200" cy="301752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74320" y="1737360"/>
            <a:ext cx="2743200" cy="73152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11480" y="1874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Biology Tutor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65760" y="2286000"/>
            <a:ext cx="2560320" cy="1554480"/>
          </a:xfrm>
          <a:prstGeom prst="rect">
            <a:avLst/>
          </a:prstGeom>
          <a:solidFill>
            <a:srgbClr val="0A0F1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" y="237744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"You are Dr. Bio, an enthusiastic biology tutor. Keep responses to 2–3 sentences. Use analogies. Redirect off-topic questions back to biology."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1480" y="39319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14400" y="39319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Enthusiastic, domain-bounded, concise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200400" y="1737360"/>
            <a:ext cx="2743200" cy="301752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200400" y="1737360"/>
            <a:ext cx="2743200" cy="7315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337560" y="1874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Officer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291840" y="2286000"/>
            <a:ext cx="2560320" cy="1554480"/>
          </a:xfrm>
          <a:prstGeom prst="rect">
            <a:avLst/>
          </a:prstGeom>
          <a:solidFill>
            <a:srgbClr val="0A0F1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383280" y="237744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"You are a strict industrial safety instructor. Give direct, authoritative answers. Always cite the specific risk. Never soften safety-critical information."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337560" y="39319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840480" y="39319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Authoritative, risk-focused, serious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126480" y="1737360"/>
            <a:ext cx="2743200" cy="301752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126480" y="1737360"/>
            <a:ext cx="27432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263640" y="1874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Socratic 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217920" y="2286000"/>
            <a:ext cx="2560320" cy="1554480"/>
          </a:xfrm>
          <a:prstGeom prst="rect">
            <a:avLst/>
          </a:prstGeom>
          <a:solidFill>
            <a:srgbClr val="0A0F1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309360" y="237744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"You are a Socratic tutor. Never give direct answers. Always respond to questions with a guiding question that helps the learner reason toward the answer."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263640" y="39319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766560" y="39319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Questioning, scaffolded, non-directive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c2dfeb44_0_4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6c2dfeb44_0_4"/>
          <p:cNvSpPr/>
          <p:nvPr/>
        </p:nvSpPr>
        <p:spPr>
          <a:xfrm>
            <a:off x="365750" y="1688650"/>
            <a:ext cx="4114800" cy="20841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6c2dfeb44_0_4"/>
          <p:cNvSpPr/>
          <p:nvPr/>
        </p:nvSpPr>
        <p:spPr>
          <a:xfrm>
            <a:off x="487700" y="1859275"/>
            <a:ext cx="37491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Socratic scaffolding: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Instead of giving direct answers, the agent responds to questions with a guiding question first, nudging the learner to reason before receiving confirmation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Domain-bounded expertise: 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agent is an expert in one narrow area and openly acknowledges the boundaries of its knowledge  this models intellectual honesty and keeps the learner focused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96c2dfeb44_0_4"/>
          <p:cNvSpPr/>
          <p:nvPr/>
        </p:nvSpPr>
        <p:spPr>
          <a:xfrm>
            <a:off x="4663450" y="1688650"/>
            <a:ext cx="4114800" cy="2084100"/>
          </a:xfrm>
          <a:prstGeom prst="rect">
            <a:avLst/>
          </a:prstGeom>
          <a:solidFill>
            <a:srgbClr val="131E2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6c2dfeb44_0_4"/>
          <p:cNvSpPr/>
          <p:nvPr/>
        </p:nvSpPr>
        <p:spPr>
          <a:xfrm>
            <a:off x="4796350" y="1761775"/>
            <a:ext cx="37491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Progressive disclosure: 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agent gives a short initial answer and offers to go deeper if the learner asks a follow-up  this respects cognitive load while keeping depth available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Error-responsive guidance: 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the learner describes an incorrect action or misconception in their question, the agent gently corrects it rather than simply answering the surface question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96c2dfeb44_0_4"/>
          <p:cNvSpPr/>
          <p:nvPr/>
        </p:nvSpPr>
        <p:spPr>
          <a:xfrm>
            <a:off x="457200" y="6858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Ideas for Designing Meaningful AI Agent Interactions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457200" y="18071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Assignment 4: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221863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Pedagogical Agents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Immersive Learning Environments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1A56DB">
              <a:alpha val="14901"/>
            </a:srgbClr>
          </a:solidFill>
          <a:ln cap="flat" cmpd="sng" w="12700">
            <a:solidFill>
              <a:srgbClr val="1A56D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Let's build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Open Unity. Your starter scene is ready.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GY-9223  ·  Workshop 4  ·  AI Integration in XR  ·  NYU Tandon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2026-04-01T12:58:09Z</dcterms:created>
  <dc:creator>PptxGenJS</dc:creator>
</cp:coreProperties>
</file>